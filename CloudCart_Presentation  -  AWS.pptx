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6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8263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ECCDC-B83E-5DB3-DB1E-4FA80ED08C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1DB5B4-4CF5-82E8-2A00-CA4C25B230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143F71-5798-C5A3-1A6B-DB07979C7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F0DDCD-EEEF-9DA8-5E82-1CB921DE3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31425F-B8FB-F67F-61E8-B164C8B2A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073776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7F004-4276-092B-9FD4-49B20B73F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152466-9F9D-97D3-A271-695AD90D6C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614C14-40D9-BBF2-738D-DFA2ECD3F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9F1904-83E6-D5FC-A081-A6BEE7670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E461F-429D-920F-1785-9A1559EC6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030333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84A23-1624-FAB5-BEEE-B96B3CBB3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242A06-D913-91B0-A297-ADFD56E3BB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8553DF-6B3C-821B-0A07-88E108E4B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5685BC-412B-C40D-A09B-E0BC5FE73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929B7-8600-5B19-8EF4-5AC763F99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26638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BA3E7-877E-D1CC-8C64-FD30AA092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DB8C16-0FFA-924B-3149-364094DEA5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D74269-2C46-B6F0-1A90-5E58185C0C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546164-D35E-B2E4-609D-130148203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7/17/2026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C9EC4A-D0ED-814B-7D9E-DE4951FC1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A38688-E742-1260-EE71-58EBAF0DC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099954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D39C2-7AD3-4001-9707-727027C96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ABB3EC-FF89-D6FA-281B-0E6A9D25B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108827-6EA3-DC02-E93B-CB24756A99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8F527D-89EA-0749-C055-3CAB2664A3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C53BC5-A231-BA98-851B-B36817C3ED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BE0407-6393-E045-3C68-F33A19226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C9AF55-A7B7-C747-6663-E4AAE38DE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4700AF-09D2-A6B5-097B-F1AD759C5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804592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021BC-5998-DCE8-140E-E25D4ADF8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B88EAD-DBE5-76EA-CB35-ED5E8BFAB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B7CC18-D87B-E5FC-03C6-21629A916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7AC25E-5ABB-E152-F71B-7BD91C801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00625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08DBFF-0BEE-5AD4-5FFF-DB2FAE1A7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7/17/2026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AB6C00-2C60-1A18-39F3-3ADCCBB45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5DEE7C-FD06-9BE5-E83F-3EC8CC9D9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81460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E4B51-3832-5976-CC6B-26D0E259B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CC0DD6-FE0F-803A-B70E-5845CD4C12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359FCF-F785-664C-7B9B-E9F4F8D9D3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E55111-727F-54A8-D67B-C81F48E82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7/17/2026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45096C-34D7-E17D-F00F-4FFC98488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C2DC5A-E550-689B-DF96-2CE6CB7AA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116482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3DA32-8847-C29C-FE88-A9E0FDB49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AC8AFB-D3C7-BD9C-405E-F3418E7511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D04A4E-069D-04BE-6909-0296889B63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6C795F-77A3-72BF-D5E1-39CD5E4D3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3A0600-F750-E67D-15B1-2B5F1F344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95E627-E070-5D54-E92F-B0E5243AE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69794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68C11-D07C-3F21-A956-B8F589922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FA13E2-0E33-625A-507A-4AF3BFF07C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748E98-DD7C-5B4A-66AE-B31848E19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7/17/2026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953D75-A81B-0377-92C0-3B6518523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9200ED-4E1A-8567-2FF5-C2E9D5BCD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745112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239122-075C-032D-04B7-D091E09125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E731ED-9629-3919-F40B-C300B1FC7C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35A856-FF2F-7FA1-FF78-E0C905021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1AA8DE-EF75-0498-4031-9F4A1055E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46F18-7AAA-9156-F7CE-19A7F8EB5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248703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549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461981-F743-4925-7D58-4864545F5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BBC8F9-D298-7D16-FA38-69234C771F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2245ED-94FA-B4E4-358C-8ACB8C6F9B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7/17/2026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390F2A-833D-7027-C6C0-5129A1BE59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FC8A6-CFC1-F08D-EE08-01B5AE9C19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606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28600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CloudCart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868680" y="32004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BFDBFE"/>
                </a:solidFill>
              </a:rPr>
              <a:t>Online Shopping Portal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68680" y="37033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3C5FD"/>
                </a:solidFill>
              </a:rPr>
              <a:t>AWS Cloud &amp; DevOps Internship Project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5852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0A5FA"/>
                </a:solidFill>
              </a:rPr>
              <a:t>React  ·  Spring Boot  ·  MySQL  ·  Docker  ·  Kubernetes  ·  AWS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563EB"/>
                </a:solidFill>
              </a:rPr>
              <a:t>INTRODUCTION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cloud-native shopping portal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5577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0F172A"/>
                </a:solidFill>
              </a:rPr>
              <a:t>CloudCart is a secure, scalable e-commerce application where customers browse products, manage a cart, and place orders — while administrators manage the catalog, inventory, and sales through a dedicated dashboard. The system is built to be deployed on AWS using containers, orchestration, and an automated delivery pipeline.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583680" y="1554480"/>
            <a:ext cx="2286000" cy="1143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0" y="166420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563EB"/>
                </a:solidFill>
              </a:rPr>
              <a:t>18+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583680" y="2240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REST API endpoints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9052560" y="1554480"/>
            <a:ext cx="2286000" cy="1143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/>
        </p:spPr>
      </p:sp>
      <p:sp>
        <p:nvSpPr>
          <p:cNvPr id="9" name="Text 7"/>
          <p:cNvSpPr/>
          <p:nvPr/>
        </p:nvSpPr>
        <p:spPr>
          <a:xfrm>
            <a:off x="9052560" y="166420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563EB"/>
                </a:solidFill>
              </a:rPr>
              <a:t>11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9052560" y="2240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database tables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583680" y="2926080"/>
            <a:ext cx="2286000" cy="1143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303580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563EB"/>
                </a:solidFill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583680" y="3611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user roles (customer / admin)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52560" y="2926080"/>
            <a:ext cx="2286000" cy="1143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/>
        </p:spPr>
      </p:sp>
      <p:sp>
        <p:nvSpPr>
          <p:cNvPr id="15" name="Text 13"/>
          <p:cNvSpPr/>
          <p:nvPr/>
        </p:nvSpPr>
        <p:spPr>
          <a:xfrm>
            <a:off x="9052560" y="303580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563EB"/>
                </a:solidFill>
              </a:rPr>
              <a:t>7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9052560" y="3611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AWS services used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563EB"/>
                </a:solidFill>
              </a:rPr>
              <a:t>PROBLEM STATEMENT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build this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92608" cy="292608"/>
          </a:xfrm>
          <a:prstGeom prst="line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373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69164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F172A"/>
                </a:solidFill>
              </a:rPr>
              <a:t>Small and mid-size sellers need an affordable, cloud-hosted storefront without managing physical servers.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292608" cy="292608"/>
          </a:xfrm>
          <a:prstGeom prst="line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788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27432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F172A"/>
                </a:solidFill>
              </a:rPr>
              <a:t>Manual inventory and order tracking leads to overselling, stockouts, and slow fulfillment.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3840480"/>
            <a:ext cx="292608" cy="292608"/>
          </a:xfrm>
          <a:prstGeom prst="lin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8404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379476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F172A"/>
                </a:solidFill>
              </a:rPr>
              <a:t>Traffic spikes (sales, festivals) demand infrastructure that scales automatically, not manual intervention.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4892040"/>
            <a:ext cx="292608" cy="292608"/>
          </a:xfrm>
          <a:prstGeom prst="line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8920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3000" y="484632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F172A"/>
                </a:solidFill>
              </a:rPr>
              <a:t>Security expectations (encrypted passwords, role-based access) are often skipped in student/hobby projects.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563EB"/>
                </a:solidFill>
              </a:rPr>
              <a:t>OBJECTIVES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project set out to 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745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8A"/>
                </a:solidFill>
              </a:rPr>
              <a:t>Secure by design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4748B"/>
                </a:solidFill>
              </a:rPr>
              <a:t>JWT auth, BCrypt hashing, role-based access control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43400" y="169164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1F5F9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0" y="18745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8A"/>
                </a:solidFill>
              </a:rPr>
              <a:t>Well-modeled data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0" y="237744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4748B"/>
                </a:solidFill>
              </a:rPr>
              <a:t>Normalized MySQL schema with keys, indexes, constraints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46720" y="169164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1F5F9"/>
          </a:solidFill>
          <a:ln/>
        </p:spPr>
      </p:sp>
      <p:sp>
        <p:nvSpPr>
          <p:cNvPr id="11" name="Text 9"/>
          <p:cNvSpPr/>
          <p:nvPr/>
        </p:nvSpPr>
        <p:spPr>
          <a:xfrm>
            <a:off x="8275320" y="18745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8A"/>
                </a:solidFill>
              </a:rPr>
              <a:t>Fully containerized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75320" y="237744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4748B"/>
                </a:solidFill>
              </a:rPr>
              <a:t>Docker images for frontend and backend, verified with Compose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65760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1F5F9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8404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8A"/>
                </a:solidFill>
              </a:rPr>
              <a:t>Orchestrated at scale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68680" y="434340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4748B"/>
                </a:solidFill>
              </a:rPr>
              <a:t>Kubernetes Deployments, Services, Ingress, and HPA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43400" y="365760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1F5F9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38404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8A"/>
                </a:solidFill>
              </a:rPr>
              <a:t>Automated delivery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0" y="434340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4748B"/>
                </a:solidFill>
              </a:rPr>
              <a:t>GitHub Actions: build → test → image → deploy → notify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046720" y="365760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1F5F9"/>
          </a:solidFill>
          <a:ln/>
        </p:spPr>
      </p:sp>
      <p:sp>
        <p:nvSpPr>
          <p:cNvPr id="20" name="Text 18"/>
          <p:cNvSpPr/>
          <p:nvPr/>
        </p:nvSpPr>
        <p:spPr>
          <a:xfrm>
            <a:off x="8275320" y="38404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8A"/>
                </a:solidFill>
              </a:rPr>
              <a:t>Cloud-native on AWS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75320" y="434340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4748B"/>
                </a:solidFill>
              </a:rPr>
              <a:t>RDS, S3, SNS, ALB, Auto Scaling, CloudWatch, IAM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563EB"/>
                </a:solidFill>
              </a:rPr>
              <a:t>SYSTEM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26771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8A"/>
                </a:solidFill>
              </a:rPr>
              <a:t>React SPA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6974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Customer &amp; Admin UI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560320" y="242316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834640" y="210312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F1F5F9"/>
          </a:solidFill>
          <a:ln/>
        </p:spPr>
      </p:sp>
      <p:sp>
        <p:nvSpPr>
          <p:cNvPr id="9" name="Text 7"/>
          <p:cNvSpPr/>
          <p:nvPr/>
        </p:nvSpPr>
        <p:spPr>
          <a:xfrm>
            <a:off x="2834640" y="226771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8A"/>
                </a:solidFill>
              </a:rPr>
              <a:t>Nginx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926080" y="26974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Static hosting + reverse proxy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754880" y="242316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029200" y="210312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F1F5F9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226771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8A"/>
                </a:solidFill>
              </a:rPr>
              <a:t>ALB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120640" y="26974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AWS Load Balancer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949440" y="242316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223760" y="210312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7223760" y="226771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Spring Boot API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0" y="26974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BEAFE"/>
                </a:solidFill>
              </a:rPr>
              <a:t>EKS pods (autoscaled)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144000" y="242316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692640" y="210312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F1F5F9"/>
          </a:solidFill>
          <a:ln/>
        </p:spPr>
      </p:sp>
      <p:sp>
        <p:nvSpPr>
          <p:cNvPr id="21" name="Text 19"/>
          <p:cNvSpPr/>
          <p:nvPr/>
        </p:nvSpPr>
        <p:spPr>
          <a:xfrm>
            <a:off x="9692640" y="226771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8A"/>
                </a:solidFill>
              </a:rPr>
              <a:t>Amazon RDS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784080" y="26974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MySQL 8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0080" y="3749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</a:rPr>
              <a:t>Supporting AWS services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41605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</a:rPr>
              <a:t>•  S3 — product images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0080" y="4544568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</a:rPr>
              <a:t>•  SNS — order notifications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0080" y="4928616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</a:rPr>
              <a:t>•  CloudWatch — logs &amp; metrics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40080" y="5312664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</a:rPr>
              <a:t>•  IAM — scoped access via IRSA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40080" y="5696712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</a:rPr>
              <a:t>•  Auto Scaling — node-level scaling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675120" y="3749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</a:rPr>
              <a:t>CI/CD flow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675120" y="41605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</a:rPr>
              <a:t>1.  Push to main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675120" y="454456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</a:rPr>
              <a:t>2.  GitHub Actions: build &amp; test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675120" y="4928616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</a:rPr>
              <a:t>3.  Docker image → Docker Hub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675120" y="5312664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</a:rPr>
              <a:t>4.  kubectl apply → EKS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675120" y="569671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</a:rPr>
              <a:t>5.  SNS deploy notification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563EB"/>
                </a:solidFill>
              </a:rPr>
              <a:t>CLOUD PLATFORM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services used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659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6060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</a:rPr>
              <a:t>EC2 / EKS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Compute for hosting containerized services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173736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/>
        </p:spPr>
      </p:sp>
      <p:sp>
        <p:nvSpPr>
          <p:cNvPr id="9" name="Shape 7"/>
          <p:cNvSpPr/>
          <p:nvPr/>
        </p:nvSpPr>
        <p:spPr>
          <a:xfrm>
            <a:off x="3611880" y="19659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26060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</a:rPr>
              <a:t>RDS (MySQL)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66160" y="297180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Managed relational database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73736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/>
        </p:spPr>
      </p:sp>
      <p:sp>
        <p:nvSpPr>
          <p:cNvPr id="13" name="Shape 11"/>
          <p:cNvSpPr/>
          <p:nvPr/>
        </p:nvSpPr>
        <p:spPr>
          <a:xfrm>
            <a:off x="6355080" y="19659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26060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</a:rPr>
              <a:t>S3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9360" y="297180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Product image storage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869680" y="173736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/>
        </p:spPr>
      </p:sp>
      <p:sp>
        <p:nvSpPr>
          <p:cNvPr id="17" name="Shape 15"/>
          <p:cNvSpPr/>
          <p:nvPr/>
        </p:nvSpPr>
        <p:spPr>
          <a:xfrm>
            <a:off x="9098280" y="19659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9052560" y="26060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</a:rPr>
              <a:t>IAM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052560" y="297180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Fine-grained access control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384048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/>
        </p:spPr>
      </p:sp>
      <p:sp>
        <p:nvSpPr>
          <p:cNvPr id="21" name="Shape 19"/>
          <p:cNvSpPr/>
          <p:nvPr/>
        </p:nvSpPr>
        <p:spPr>
          <a:xfrm>
            <a:off x="868680" y="40690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70916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</a:rPr>
              <a:t>CloudWatch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" y="50749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Logs, metrics, health monitoring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83280" y="384048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/>
        </p:spPr>
      </p:sp>
      <p:sp>
        <p:nvSpPr>
          <p:cNvPr id="25" name="Shape 23"/>
          <p:cNvSpPr/>
          <p:nvPr/>
        </p:nvSpPr>
        <p:spPr>
          <a:xfrm>
            <a:off x="3611880" y="40690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3566160" y="470916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</a:rPr>
              <a:t>SNS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566160" y="50749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Order &amp; deployment notifications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26480" y="384048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/>
        </p:spPr>
      </p:sp>
      <p:sp>
        <p:nvSpPr>
          <p:cNvPr id="29" name="Shape 27"/>
          <p:cNvSpPr/>
          <p:nvPr/>
        </p:nvSpPr>
        <p:spPr>
          <a:xfrm>
            <a:off x="6355080" y="40690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2563EB"/>
          </a:solidFill>
          <a:ln/>
        </p:spPr>
      </p:sp>
      <p:sp>
        <p:nvSpPr>
          <p:cNvPr id="30" name="Text 28"/>
          <p:cNvSpPr/>
          <p:nvPr/>
        </p:nvSpPr>
        <p:spPr>
          <a:xfrm>
            <a:off x="6309360" y="470916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</a:rPr>
              <a:t>ALB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309360" y="50749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Layer-7 load balancing / routing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869680" y="384048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/>
        </p:spPr>
      </p:sp>
      <p:sp>
        <p:nvSpPr>
          <p:cNvPr id="33" name="Shape 31"/>
          <p:cNvSpPr/>
          <p:nvPr/>
        </p:nvSpPr>
        <p:spPr>
          <a:xfrm>
            <a:off x="9098280" y="40690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2563EB"/>
          </a:solidFill>
          <a:ln/>
        </p:spPr>
      </p:sp>
      <p:sp>
        <p:nvSpPr>
          <p:cNvPr id="34" name="Text 32"/>
          <p:cNvSpPr/>
          <p:nvPr/>
        </p:nvSpPr>
        <p:spPr>
          <a:xfrm>
            <a:off x="9052560" y="470916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</a:rPr>
              <a:t>Auto Scaling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052560" y="50749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Elastic capacity on demand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563EB"/>
                </a:solidFill>
              </a:rPr>
              <a:t>DATA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design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645920" cy="54864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373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3A8A"/>
                </a:solidFill>
              </a:rPr>
              <a:t>users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468880" y="1737360"/>
            <a:ext cx="1645920" cy="54864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2468880" y="17373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3A8A"/>
                </a:solidFill>
              </a:rPr>
              <a:t>roles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97680" y="1737360"/>
            <a:ext cx="1645920" cy="54864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17373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3A8A"/>
                </a:solidFill>
              </a:rPr>
              <a:t>user_roles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26480" y="1737360"/>
            <a:ext cx="1645920" cy="54864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17373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3A8A"/>
                </a:solidFill>
              </a:rPr>
              <a:t>categories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955280" y="1737360"/>
            <a:ext cx="1645920" cy="54864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/>
        </p:spPr>
      </p:sp>
      <p:sp>
        <p:nvSpPr>
          <p:cNvPr id="13" name="Text 11"/>
          <p:cNvSpPr/>
          <p:nvPr/>
        </p:nvSpPr>
        <p:spPr>
          <a:xfrm>
            <a:off x="7955280" y="17373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3A8A"/>
                </a:solidFill>
              </a:rPr>
              <a:t>products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784080" y="1737360"/>
            <a:ext cx="1645920" cy="54864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/>
        </p:spPr>
      </p:sp>
      <p:sp>
        <p:nvSpPr>
          <p:cNvPr id="15" name="Text 13"/>
          <p:cNvSpPr/>
          <p:nvPr/>
        </p:nvSpPr>
        <p:spPr>
          <a:xfrm>
            <a:off x="9784080" y="17373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3A8A"/>
                </a:solidFill>
              </a:rPr>
              <a:t>cart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2514600"/>
            <a:ext cx="1645920" cy="54864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5146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3A8A"/>
                </a:solidFill>
              </a:rPr>
              <a:t>cart_items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468880" y="2514600"/>
            <a:ext cx="1645920" cy="54864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/>
        </p:spPr>
      </p:sp>
      <p:sp>
        <p:nvSpPr>
          <p:cNvPr id="19" name="Text 17"/>
          <p:cNvSpPr/>
          <p:nvPr/>
        </p:nvSpPr>
        <p:spPr>
          <a:xfrm>
            <a:off x="2468880" y="25146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3A8A"/>
                </a:solidFill>
              </a:rPr>
              <a:t>orders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297680" y="2514600"/>
            <a:ext cx="1645920" cy="54864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/>
        </p:spPr>
      </p:sp>
      <p:sp>
        <p:nvSpPr>
          <p:cNvPr id="21" name="Text 19"/>
          <p:cNvSpPr/>
          <p:nvPr/>
        </p:nvSpPr>
        <p:spPr>
          <a:xfrm>
            <a:off x="4297680" y="25146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3A8A"/>
                </a:solidFill>
              </a:rPr>
              <a:t>order_items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126480" y="2514600"/>
            <a:ext cx="1645920" cy="54864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/>
        </p:spPr>
      </p:sp>
      <p:sp>
        <p:nvSpPr>
          <p:cNvPr id="23" name="Text 21"/>
          <p:cNvSpPr/>
          <p:nvPr/>
        </p:nvSpPr>
        <p:spPr>
          <a:xfrm>
            <a:off x="6126480" y="25146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3A8A"/>
                </a:solidFill>
              </a:rPr>
              <a:t>payments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955280" y="2514600"/>
            <a:ext cx="1645920" cy="54864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/>
        </p:spPr>
      </p:sp>
      <p:sp>
        <p:nvSpPr>
          <p:cNvPr id="25" name="Text 23"/>
          <p:cNvSpPr/>
          <p:nvPr/>
        </p:nvSpPr>
        <p:spPr>
          <a:xfrm>
            <a:off x="7955280" y="25146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3A8A"/>
                </a:solidFill>
              </a:rPr>
              <a:t>reviews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784080" y="2514600"/>
            <a:ext cx="1645920" cy="54864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/>
        </p:spPr>
      </p:sp>
      <p:sp>
        <p:nvSpPr>
          <p:cNvPr id="27" name="Text 25"/>
          <p:cNvSpPr/>
          <p:nvPr/>
        </p:nvSpPr>
        <p:spPr>
          <a:xfrm>
            <a:off x="9784080" y="25146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3A8A"/>
                </a:solidFill>
              </a:rPr>
              <a:t>wishlist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40080" y="37490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0F172A"/>
                </a:solidFill>
              </a:rPr>
              <a:t>Every table uses primary keys, foreign key relationships, and unique constraints (e.g. one cart per user, one review rating range 1–5). Indexes cover common lookups: products by category, orders by user and status, reviews by product.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40080" y="475488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0F172A"/>
          </a:solidFill>
          <a:ln/>
        </p:spPr>
      </p:sp>
      <p:sp>
        <p:nvSpPr>
          <p:cNvPr id="30" name="Text 28"/>
          <p:cNvSpPr/>
          <p:nvPr/>
        </p:nvSpPr>
        <p:spPr>
          <a:xfrm>
            <a:off x="868680" y="4892040"/>
            <a:ext cx="10424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orders (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 BIGINT AUTO_INCREMENT PRIMARY KEY,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user_id BIGINT NOT NULL,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status ENUM('PENDING','CONFIRMED','SHIPPED','DELIVERED','CANCELLED'),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CONSTRAINT fk_orders_user FOREIGN KEY (user_id) REFERENCES users(id)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563EB"/>
                </a:solidFill>
              </a:rPr>
              <a:t>FUNCTIONALITY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features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</a:rPr>
              <a:t>Customer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0574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</a:rPr>
              <a:t>•  Register / login with JWT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2441448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</a:rPr>
              <a:t>•  Browse, search &amp; filter products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2825496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</a:rPr>
              <a:t>•  Product details, ratings &amp; reviews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3209544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</a:rPr>
              <a:t>•  Cart with live quantity &amp; totals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359359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</a:rPr>
              <a:t>•  Checkout with address &amp; payment method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39776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</a:rPr>
              <a:t>•  Order history &amp; cancellation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309360" y="16002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</a:rPr>
              <a:t>Admin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309360" y="20574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</a:rPr>
              <a:t>•  Role-restricted secure login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309360" y="2441448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</a:rPr>
              <a:t>•  Add / update / soft-delete products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309360" y="2825496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</a:rPr>
              <a:t>•  Manage categories &amp; inventory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309360" y="3209544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</a:rPr>
              <a:t>•  View &amp; manage all customer orders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309360" y="359359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</a:rPr>
              <a:t>•  Revenue &amp; order-count dashboard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309360" y="39776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</a:rPr>
              <a:t>•  Customer account overview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563EB"/>
                </a:solidFill>
              </a:rPr>
              <a:t>SCREENS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screenshots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5303520" cy="3337560"/>
          </a:xfrm>
          <a:prstGeom prst="roundRect">
            <a:avLst>
              <a:gd name="adj" fmla="val 1644"/>
            </a:avLst>
          </a:prstGeom>
          <a:solidFill>
            <a:srgbClr val="F1F5F9"/>
          </a:solidFill>
          <a:ln/>
        </p:spPr>
      </p:sp>
      <p:pic>
        <p:nvPicPr>
          <p:cNvPr id="5" name="Image 0" descr="01_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91640"/>
            <a:ext cx="5212080" cy="32461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5010912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Home page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263640" y="1645920"/>
            <a:ext cx="5303520" cy="3337560"/>
          </a:xfrm>
          <a:prstGeom prst="roundRect">
            <a:avLst>
              <a:gd name="adj" fmla="val 1644"/>
            </a:avLst>
          </a:prstGeom>
          <a:solidFill>
            <a:srgbClr val="F1F5F9"/>
          </a:solidFill>
          <a:ln/>
        </p:spPr>
      </p:sp>
      <p:pic>
        <p:nvPicPr>
          <p:cNvPr id="8" name="Image 1" descr="02_produc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691640"/>
            <a:ext cx="5212080" cy="32461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09360" y="5010912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Product catalog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563EB"/>
                </a:solidFill>
              </a:rPr>
              <a:t>SCREENS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screenshots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5303520" cy="3337560"/>
          </a:xfrm>
          <a:prstGeom prst="roundRect">
            <a:avLst>
              <a:gd name="adj" fmla="val 1644"/>
            </a:avLst>
          </a:prstGeom>
          <a:solidFill>
            <a:srgbClr val="F1F5F9"/>
          </a:solidFill>
          <a:ln/>
        </p:spPr>
      </p:sp>
      <p:pic>
        <p:nvPicPr>
          <p:cNvPr id="5" name="Image 0" descr="04_c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91640"/>
            <a:ext cx="5212080" cy="32461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5010912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Shopping cart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263640" y="1645920"/>
            <a:ext cx="5303520" cy="3337560"/>
          </a:xfrm>
          <a:prstGeom prst="roundRect">
            <a:avLst>
              <a:gd name="adj" fmla="val 1644"/>
            </a:avLst>
          </a:prstGeom>
          <a:solidFill>
            <a:srgbClr val="F1F5F9"/>
          </a:solidFill>
          <a:ln/>
        </p:spPr>
      </p:sp>
      <p:pic>
        <p:nvPicPr>
          <p:cNvPr id="8" name="Image 1" descr="07_admin_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691640"/>
            <a:ext cx="5212080" cy="32461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09360" y="5010912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Admin dashboard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563EB"/>
                </a:solidFill>
              </a:rPr>
              <a:t>CONTAINERIZATION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5120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0F172A"/>
                </a:solidFill>
              </a:rPr>
              <a:t>Frontend and backend each ship as independent, minimal images — a multi-stage Maven build for the Spring Boot jar, and a Node build served through Nginx for the React app. docker-compose.yml wires both together with MySQL for full local integration testing.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0080" y="37490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•  Dockerfile.backend — Maven build → JRE runtime, non-root user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0080" y="4133088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•  Dockerfile.frontend — Node build → Nginx static serve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4517136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•  docker-compose.yml — mysql + backend + frontend, healthchecks wired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" y="4901184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•  Environment variables externalized via .env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09360" y="1600200"/>
            <a:ext cx="5212080" cy="4480560"/>
          </a:xfrm>
          <a:prstGeom prst="roundRect">
            <a:avLst>
              <a:gd name="adj" fmla="val 1633"/>
            </a:avLst>
          </a:prstGeom>
          <a:solidFill>
            <a:srgbClr val="0F172A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1828800"/>
            <a:ext cx="47548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eclipse-temurin:17-jre-jammy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WORKDIR /app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spring:spring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--from=build /app/target/cloudcart-backend.jar app.jar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EXPOSE 8080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HEALTHCHECK CMD wget -qO- \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http://localhost:8080/api/actuator/health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ENTRYPOINT ["java", "-jar", "app.jar"]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563EB"/>
                </a:solidFill>
              </a:rPr>
              <a:t>ORCHESTRATION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745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3A8A"/>
                </a:solidFill>
              </a:rPr>
              <a:t>Namespace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4748B"/>
                </a:solidFill>
              </a:rPr>
              <a:t>Isolates all CloudCart resources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43400" y="169164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1F5F9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0" y="18745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3A8A"/>
                </a:solidFill>
              </a:rPr>
              <a:t>ConfigMap / Secret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572000" y="237744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4748B"/>
                </a:solidFill>
              </a:rPr>
              <a:t>Externalized config and credentials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46720" y="169164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1F5F9"/>
          </a:solidFill>
          <a:ln/>
        </p:spPr>
      </p:sp>
      <p:sp>
        <p:nvSpPr>
          <p:cNvPr id="11" name="Text 9"/>
          <p:cNvSpPr/>
          <p:nvPr/>
        </p:nvSpPr>
        <p:spPr>
          <a:xfrm>
            <a:off x="8275320" y="18745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3A8A"/>
                </a:solidFill>
              </a:rPr>
              <a:t>Deployments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275320" y="237744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4748B"/>
                </a:solidFill>
              </a:rPr>
              <a:t>2+ replicas each for frontend &amp; backend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65760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1F5F9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8404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3A8A"/>
                </a:solidFill>
              </a:rPr>
              <a:t>Services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68680" y="434340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4748B"/>
                </a:solidFill>
              </a:rPr>
              <a:t>Stable internal networking (ClusterIP)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43400" y="365760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1F5F9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38404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3A8A"/>
                </a:solidFill>
              </a:rPr>
              <a:t>Ingress (ALB)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72000" y="434340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4748B"/>
                </a:solidFill>
              </a:rPr>
              <a:t>Public routing for / and /api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046720" y="365760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1F5F9"/>
          </a:solidFill>
          <a:ln/>
        </p:spPr>
      </p:sp>
      <p:sp>
        <p:nvSpPr>
          <p:cNvPr id="20" name="Text 18"/>
          <p:cNvSpPr/>
          <p:nvPr/>
        </p:nvSpPr>
        <p:spPr>
          <a:xfrm>
            <a:off x="8275320" y="38404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3A8A"/>
                </a:solidFill>
              </a:rPr>
              <a:t>HPA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275320" y="434340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4748B"/>
                </a:solidFill>
              </a:rPr>
              <a:t>Autoscale 2→8 pods on CPU/memory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563EB"/>
                </a:solidFill>
              </a:rPr>
              <a:t>AUTOMATION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pipeline — GitHub Actions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783080" cy="1463040"/>
          </a:xfrm>
          <a:prstGeom prst="roundRect">
            <a:avLst>
              <a:gd name="adj" fmla="val 5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212848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BEAFE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Checkout &amp; build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423160" y="251460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60320" y="2103120"/>
            <a:ext cx="1783080" cy="1463040"/>
          </a:xfrm>
          <a:prstGeom prst="roundRect">
            <a:avLst>
              <a:gd name="adj" fmla="val 5000"/>
            </a:avLst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2560320" y="2212848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BEAFE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651760" y="260604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Run backend + frontend tests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343400" y="251460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480560" y="2103120"/>
            <a:ext cx="1783080" cy="1463040"/>
          </a:xfrm>
          <a:prstGeom prst="roundRect">
            <a:avLst>
              <a:gd name="adj" fmla="val 5000"/>
            </a:avLst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0" y="2212848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BEAFE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0" y="260604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Build Docker images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263640" y="251460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0" y="2103120"/>
            <a:ext cx="1783080" cy="1463040"/>
          </a:xfrm>
          <a:prstGeom prst="roundRect">
            <a:avLst>
              <a:gd name="adj" fmla="val 5000"/>
            </a:avLst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2212848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BEAFE"/>
                </a:solidFill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92240" y="260604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Push to Docker Hub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183880" y="251460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321040" y="2103120"/>
            <a:ext cx="1783080" cy="1463040"/>
          </a:xfrm>
          <a:prstGeom prst="roundRect">
            <a:avLst>
              <a:gd name="adj" fmla="val 5000"/>
            </a:avLst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8321040" y="2212848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BEAFE"/>
                </a:solidFill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412480" y="260604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Deploy manifests to EKS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0104120" y="251460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0241280" y="2103120"/>
            <a:ext cx="1783080" cy="1463040"/>
          </a:xfrm>
          <a:prstGeom prst="roundRect">
            <a:avLst>
              <a:gd name="adj" fmla="val 5000"/>
            </a:avLst>
          </a:prstGeom>
          <a:solidFill>
            <a:srgbClr val="16A34A"/>
          </a:solidFill>
          <a:ln/>
        </p:spPr>
      </p:sp>
      <p:sp>
        <p:nvSpPr>
          <p:cNvPr id="25" name="Text 23"/>
          <p:cNvSpPr/>
          <p:nvPr/>
        </p:nvSpPr>
        <p:spPr>
          <a:xfrm>
            <a:off x="10241280" y="2212848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BEAFE"/>
                </a:solidFill>
              </a:rPr>
              <a:t>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332720" y="260604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Notify via SNS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0080" y="40233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F172A"/>
                </a:solidFill>
              </a:rPr>
              <a:t>Triggered on every push to main. Pull requests run build &amp; test only — image push and deploy are gated to main so the cluster only ever runs reviewed, tested code.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563EB"/>
                </a:solidFill>
              </a:rPr>
              <a:t>OUTCOMES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563EB"/>
                </a:solidFill>
              </a:rPr>
              <a:t>11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database tables, fully normalized with FKs &amp; indexes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383280" y="16916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563EB"/>
                </a:solidFill>
              </a:rPr>
              <a:t>18+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383280" y="25146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REST endpoints across auth, catalog, cart, orders, admin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126480" y="16916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563EB"/>
                </a:solidFill>
              </a:rPr>
              <a:t>2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126480" y="25146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roles enforced end-to-end (customer / admin)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869680" y="16916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563EB"/>
                </a:solidFill>
              </a:rPr>
              <a:t>6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8869680" y="25146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Kubernetes manifest types, HPA-scaled 2→8 pods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0F172A"/>
                </a:solidFill>
              </a:rPr>
              <a:t>The full stack runs end-to-end via Docker Compose locally, with Kubernetes manifests and a GitHub Actions pipeline ready to deploy the same images to an AWS EKS cluster.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0080" y="4480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8A"/>
                </a:solidFill>
              </a:rPr>
              <a:t>Scope note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48463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</a:rPr>
              <a:t>Live AWS metrics and production traffic are out of scope for this internship-stage submission; the architecture and pipeline were validated locally.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1887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Conclusion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68680" y="201168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DBEAFE"/>
                </a:solidFill>
              </a:rPr>
              <a:t>CloudCart demonstrates a complete cloud-native application lifecycle — secure authentication, a well-modeled relational database, containerized services, Kubernetes orchestration with autoscaling, and an automated CI/CD pipeline targeting AWS.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68680" y="3383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3C5FD"/>
                </a:solidFill>
              </a:rPr>
              <a:t>Future enhancements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3794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•  Payment gateway integration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68680" y="4160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•  Expanded automated test coverage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4526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•  CloudWatch alarms &amp; dashboards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4892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•  IAM least-privilege review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364182" y="56692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60A5FA"/>
                </a:solidFill>
              </a:rPr>
              <a:t>Thank you</a:t>
            </a:r>
            <a:endParaRPr lang="en-US" sz="6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Words>1096</Words>
  <Application>Microsoft Office PowerPoint</Application>
  <PresentationFormat>Widescreen</PresentationFormat>
  <Paragraphs>228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srsr4926@outlook.com</cp:lastModifiedBy>
  <cp:revision>2</cp:revision>
  <dcterms:created xsi:type="dcterms:W3CDTF">2026-07-17T03:08:01Z</dcterms:created>
  <dcterms:modified xsi:type="dcterms:W3CDTF">2026-07-17T03:28:19Z</dcterms:modified>
</cp:coreProperties>
</file>